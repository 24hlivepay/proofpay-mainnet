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7b38d5708e41ec" /><Relationship Type="http://schemas.openxmlformats.org/officeDocument/2006/relationships/extended-properties" Target="/docProps/app.xml" Id="R01665a331ae0448e" /><Relationship Type="http://schemas.openxmlformats.org/officeDocument/2006/relationships/officeDocument" Target="/ppt/presentation.xml" Id="R4451c118f3b542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78b447ecf04890"/>
  </p:sldMasterIdLst>
  <p:notesMasterIdLst>
    <p:notesMasterId xmlns:r="http://schemas.openxmlformats.org/officeDocument/2006/relationships" r:id="Rd1d7f9c1b24443b4"/>
  </p:notesMasterIdLst>
  <p:sldIdLst>
    <p:sldId xmlns:r="http://schemas.openxmlformats.org/officeDocument/2006/relationships" id="256" r:id="Rfa1565e68b014022"/>
    <p:sldId xmlns:r="http://schemas.openxmlformats.org/officeDocument/2006/relationships" id="257" r:id="Ra5503b01f73c434d"/>
    <p:sldId xmlns:r="http://schemas.openxmlformats.org/officeDocument/2006/relationships" id="258" r:id="Rd9c9b4e6809143db"/>
    <p:sldId xmlns:r="http://schemas.openxmlformats.org/officeDocument/2006/relationships" id="259" r:id="Ra4aaa5956ffd4d91"/>
    <p:sldId xmlns:r="http://schemas.openxmlformats.org/officeDocument/2006/relationships" id="260" r:id="R04e4302478a04bd7"/>
    <p:sldId xmlns:r="http://schemas.openxmlformats.org/officeDocument/2006/relationships" id="261" r:id="R1b2e18d9386d43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1380e11871461c" /><Relationship Type="http://schemas.openxmlformats.org/officeDocument/2006/relationships/slideMaster" Target="/ppt/slideMasters/slideMaster1.xml" Id="Re478b447ecf04890" /><Relationship Type="http://schemas.openxmlformats.org/officeDocument/2006/relationships/notesMaster" Target="/ppt/notesMasters/notesMaster1.xml" Id="Rd1d7f9c1b24443b4" /><Relationship Type="http://schemas.openxmlformats.org/officeDocument/2006/relationships/presProps" Target="/ppt/presProps.xml" Id="R3c2b6498369c4d9f" /><Relationship Type="http://schemas.openxmlformats.org/officeDocument/2006/relationships/tableStyles" Target="/ppt/tableStyles.xml" Id="R7111406b5a4f4c3e" /><Relationship Type="http://schemas.openxmlformats.org/officeDocument/2006/relationships/slide" Target="/ppt/slides/slide1.xml" Id="Rfa1565e68b014022" /><Relationship Type="http://schemas.openxmlformats.org/officeDocument/2006/relationships/slide" Target="/ppt/slides/slide2.xml" Id="Ra5503b01f73c434d" /><Relationship Type="http://schemas.openxmlformats.org/officeDocument/2006/relationships/slide" Target="/ppt/slides/slide3.xml" Id="Rd9c9b4e6809143db" /><Relationship Type="http://schemas.openxmlformats.org/officeDocument/2006/relationships/slide" Target="/ppt/slides/slide4.xml" Id="Ra4aaa5956ffd4d91" /><Relationship Type="http://schemas.openxmlformats.org/officeDocument/2006/relationships/slide" Target="/ppt/slides/slide5.xml" Id="R04e4302478a04bd7" /><Relationship Type="http://schemas.openxmlformats.org/officeDocument/2006/relationships/slide" Target="/ppt/slides/slide6.xml" Id="R1b2e18d9386d43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ba713e29bf46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162af7e8244fc6" /><Relationship Type="http://schemas.openxmlformats.org/officeDocument/2006/relationships/notesMaster" Target="/ppt/notesMasters/notesMaster1.xml" Id="R683959d62a5f4d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cf69636bf74ef2" /><Relationship Type="http://schemas.openxmlformats.org/officeDocument/2006/relationships/notesMaster" Target="/ppt/notesMasters/notesMaster1.xml" Id="R94f1c9aba1a749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e0fbaf2e4f45f8" /><Relationship Type="http://schemas.openxmlformats.org/officeDocument/2006/relationships/notesMaster" Target="/ppt/notesMasters/notesMaster1.xml" Id="R47770df16e154c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bc5816ab6e487b" /><Relationship Type="http://schemas.openxmlformats.org/officeDocument/2006/relationships/notesMaster" Target="/ppt/notesMasters/notesMaster1.xml" Id="R70f57528c39c44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4bc873a4eb47b3" /><Relationship Type="http://schemas.openxmlformats.org/officeDocument/2006/relationships/notesMaster" Target="/ppt/notesMasters/notesMaster1.xml" Id="Rc3d531e6b37343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157f7380e14899" /><Relationship Type="http://schemas.openxmlformats.org/officeDocument/2006/relationships/notesMaster" Target="/ppt/notesMasters/notesMaster1.xml" Id="R1d28ee3ecfb944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ProofPay as a live public testnet MVP for trust-minimized peer-to-peer payments.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https://proofpay.online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product around counterparty risk rather than crypto complexity.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https://proofpay.online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live flow. The seller is wallet-bound before the buyer deposits.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- https://testnet.arcscan.app/address/0xCd0f43E573899809ff96C560439570A760698C9a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checkpoint test results, not production volume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https://proofpay.online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separation between smart-contract settlement and database-backed UX metadata.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- https://testnet.arcscan.app/address/0xCd0f43E573899809ff96C560439570A760698C9a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Circle User-Controlled Wallets are the next planned integration, not a completed checkpoint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https://developers.circle.com/w3s/user-controlled</a:t>
            </a:r>
          </a:p>
          <a:p xmlns:a="http://schemas.openxmlformats.org/drawingml/2006/main">
            <a:r>
              <a:t>- https://proofpay.online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cfe5594cec4a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4f3c408bb94612" /><Relationship Type="http://schemas.openxmlformats.org/officeDocument/2006/relationships/slideLayout" Target="/ppt/slideLayouts/slideLayout1.xml" Id="R3ce452965c0044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e452965c0044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1801ae0f841c4" /><Relationship Type="http://schemas.openxmlformats.org/officeDocument/2006/relationships/image" Target="/ppt/media/image.png" Id="R4e606bda049b4e5c" /><Relationship Type="http://schemas.openxmlformats.org/officeDocument/2006/relationships/notesSlide" Target="/ppt/notesSlides/notesSlide1.xml" Id="Rf06abf3299de4a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309a1b0554fda" /><Relationship Type="http://schemas.openxmlformats.org/officeDocument/2006/relationships/notesSlide" Target="/ppt/notesSlides/notesSlide2.xml" Id="Rae5588ccb86347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67c66d12c44d2" /><Relationship Type="http://schemas.openxmlformats.org/officeDocument/2006/relationships/notesSlide" Target="/ppt/notesSlides/notesSlide3.xml" Id="R1cbd41d420e748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b2a78b10c46fb" /><Relationship Type="http://schemas.openxmlformats.org/officeDocument/2006/relationships/notesSlide" Target="/ppt/notesSlides/notesSlide4.xml" Id="R5a35bc9b56604d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4889930b2429f" /><Relationship Type="http://schemas.openxmlformats.org/officeDocument/2006/relationships/notesSlide" Target="/ppt/notesSlides/notesSlide5.xml" Id="Ra5b2ad57feda45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08a56e69e4361" /><Relationship Type="http://schemas.openxmlformats.org/officeDocument/2006/relationships/notesSlide" Target="/ppt/notesSlides/notesSlide6.xml" Id="Rcc32735efb4f48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06bda049b4e5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40304-97D1-41D7-960C-CE5CB6FD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1010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61128">
              <a:alpha val="80000"/>
            </a:srgbClr>
          </a:solidFill>
          <a:ln xmlns:a="http://schemas.openxmlformats.org/drawingml/2006/main" w="9525">
            <a:solidFill>
              <a:srgbClr val="061128">
                <a:alpha val="8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C4F28-9037-491A-ACD8-CB32B9DC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ARC HACKATHON · MID-SUBMISSION CHECKPOINT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81CD3-2835-4847-9982-6755DB25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388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proofpay.online</a:t>
            </a:r>
          </a:p>
        </p:txBody>
      </p:sp>
    </p:spTree>
    <p:extLst>
      <p:ext uri="{BB962C8B-B14F-4D97-AF65-F5344CB8AC3E}">
        <p14:creationId xmlns:p14="http://schemas.microsoft.com/office/powerpoint/2010/main" val="1338748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BF064-F9F2-4982-8F0C-E622EB34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A2627-93C3-490B-8171-25BB06D1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71229"/>
                </a:solidFill>
              </a:defRPr>
            </a:pPr>
            <a:r>
              <a:rPr sz="3000" b="1">
                <a:solidFill>
                  <a:srgbClr val="071229"/>
                </a:solidFill>
              </a:rPr>
              <a:t>P2P commerce still asks one side to trust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CC025-5E79-41B7-90D4-A8DDA9E7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87792"/>
                </a:solidFill>
              </a:defRPr>
            </a:pPr>
            <a:r>
              <a:rPr sz="1500" b="0">
                <a:solidFill>
                  <a:srgbClr val="687792"/>
                </a:solidFill>
              </a:rPr>
              <a:t>Payment-before-delivery exposes buyers; delivery-before-payment exposes sellers.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38933-EF37-4DE9-8522-FC463334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2766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C6F4D-3086-4E25-BA35-B7A58801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0368A-3BC7-4DC1-92C7-3089D61D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BDBC8-81E9-469C-8E9E-02C54090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09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229"/>
                </a:solidFill>
              </a:defRPr>
            </a:pPr>
            <a:r>
              <a:rPr sz="1950" b="1">
                <a:solidFill>
                  <a:srgbClr val="071229"/>
                </a:solidFill>
              </a:rPr>
              <a:t>Buyer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4E6B5-6E0F-49F4-93C4-E16C5F11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247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34425C"/>
                </a:solidFill>
              </a:defRPr>
            </a:pPr>
            <a:r>
              <a:rPr sz="1575" b="0">
                <a:solidFill>
                  <a:srgbClr val="34425C"/>
                </a:solidFill>
              </a:rPr>
              <a:t>Pays first, then waits with limited proof or recourse.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E43FC-2E22-4105-8424-CFA06FBC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1619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FFF1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FDFF1-2C06-402A-B8AD-2AA47B0D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24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PAYMENT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FB4EB-55E9-4D7B-AD1A-4F9B2246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05050"/>
            <a:ext cx="32766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E2863-A6C9-4CAB-9FC4-BEC44C58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9FF"/>
          </a:solidFill>
          <a:ln xmlns:a="http://schemas.openxmlformats.org/drawingml/2006/main" w="9525">
            <a:solidFill>
              <a:srgbClr val="2869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C82BE-98BC-434D-9D49-7C6DFB14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C0E95-4F4B-4513-B6A1-C1D64E53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Trust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9E86F-0046-408B-88CF-3A3B0EEF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29000"/>
            <a:ext cx="247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DCE7FF"/>
                </a:solidFill>
              </a:defRPr>
            </a:pPr>
            <a:r>
              <a:rPr sz="1575" b="0">
                <a:solidFill>
                  <a:srgbClr val="DCE7FF"/>
                </a:solidFill>
              </a:rPr>
              <a:t>Chat messages cannot enforce who delivers or who releases payment.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8EE14-F547-450E-8D50-CD44FA2D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14875"/>
            <a:ext cx="17907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66B"/>
          </a:solidFill>
          <a:ln xmlns:a="http://schemas.openxmlformats.org/drawingml/2006/main" w="9525">
            <a:solidFill>
              <a:srgbClr val="1836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1B4BF-9F20-4763-8290-9872C3DC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244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NO SHARED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22DCE-5140-4B38-B846-ABB59731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32766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183FC-23A9-4875-B413-21C4BFF4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19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0474BE-6D4F-47D4-9479-A5D7C623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193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15461-C82E-4309-962E-9C5E19E4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09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229"/>
                </a:solidFill>
              </a:defRPr>
            </a:pPr>
            <a:r>
              <a:rPr sz="1950" b="1">
                <a:solidFill>
                  <a:srgbClr val="071229"/>
                </a:solidFill>
              </a:rPr>
              <a:t>Seller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A7B5B-33DD-4B2F-94A6-54DB3496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29000"/>
            <a:ext cx="247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34425C"/>
                </a:solidFill>
              </a:defRPr>
            </a:pPr>
            <a:r>
              <a:rPr sz="1575" b="0">
                <a:solidFill>
                  <a:srgbClr val="34425C"/>
                </a:solidFill>
              </a:rPr>
              <a:t>Delivers first, then depends on the buyer to pay.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CED488-4F11-4B9C-9F3A-5704A78B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714875"/>
            <a:ext cx="1619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9525">
            <a:solidFill>
              <a:srgbClr val="EAFBF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99E7A3-D0B3-4D98-8E72-E050F616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724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2A150"/>
                </a:solidFill>
              </a:defRPr>
            </a:pPr>
            <a:r>
              <a:rPr sz="1050" b="1">
                <a:solidFill>
                  <a:srgbClr val="12A150"/>
                </a:solidFill>
              </a:rPr>
              <a:t>DELIVERY RISK</a:t>
            </a:r>
          </a:p>
        </p:txBody>
      </p:sp>
    </p:spTree>
    <p:extLst>
      <p:ext uri="{BB962C8B-B14F-4D97-AF65-F5344CB8AC3E}">
        <p14:creationId xmlns:p14="http://schemas.microsoft.com/office/powerpoint/2010/main" val="1158105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E48EBD-8F4F-471A-BE9A-089620B3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64C03-A96A-4FA3-843F-759B2C1D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71229"/>
                </a:solidFill>
              </a:defRPr>
            </a:pPr>
            <a:r>
              <a:rPr sz="3000" b="1">
                <a:solidFill>
                  <a:srgbClr val="071229"/>
                </a:solidFill>
              </a:rPr>
              <a:t>One shared escrow state from agreement to settlement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0C002-BBC4-468A-9581-16C44644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87792"/>
                </a:solidFill>
              </a:defRPr>
            </a:pPr>
            <a:r>
              <a:rPr sz="1500" b="0">
                <a:solidFill>
                  <a:srgbClr val="687792"/>
                </a:solidFill>
              </a:rPr>
              <a:t>Every critical payment step is visible and participant-controlled.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CA9BD-E5F8-402A-A7B9-C1C9A2BA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194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860D0-B1E0-4701-A2E1-58BE9A39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194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28669-C4FD-4473-8D58-572C49C7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194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96452-DA42-4C21-B572-93ED40E1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194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2C0D3-25D3-4357-8B9C-5566A363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1885950" cy="2724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728C5-6505-4A86-A311-E84D656F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09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343F4-B40C-4DC5-B88A-A890D604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09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8E702-5356-4ED5-96FA-09100F80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71229"/>
                </a:solidFill>
              </a:defRPr>
            </a:pPr>
            <a:r>
              <a:rPr sz="1575" b="1">
                <a:solidFill>
                  <a:srgbClr val="071229"/>
                </a:solidFill>
              </a:rPr>
              <a:t>Create deal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31E6E-1071-4BB2-B3B4-8EBDD0E4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87792"/>
                </a:solidFill>
              </a:defRPr>
            </a:pPr>
            <a:r>
              <a:rPr sz="1200" b="0">
                <a:solidFill>
                  <a:srgbClr val="687792"/>
                </a:solidFill>
              </a:rPr>
              <a:t>Buyer defines the seller, item and amount.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3839E-F87A-46F1-8431-0E36AEEC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62200"/>
            <a:ext cx="1885950" cy="2724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A22AD-2DEE-41D6-B654-48289112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09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3A9D7-E909-4825-9D10-74FC293F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09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28A50-7926-4C3A-8042-A052F345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71229"/>
                </a:solidFill>
              </a:defRPr>
            </a:pPr>
            <a:r>
              <a:rPr sz="1575" b="1">
                <a:solidFill>
                  <a:srgbClr val="071229"/>
                </a:solidFill>
              </a:rPr>
              <a:t>Seller verifies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D9B81-D659-4AAF-871D-EE96F7FB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814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87792"/>
                </a:solidFill>
              </a:defRPr>
            </a:pPr>
            <a:r>
              <a:rPr sz="1200" b="0">
                <a:solidFill>
                  <a:srgbClr val="687792"/>
                </a:solidFill>
              </a:rPr>
              <a:t>Seller wallet reviews and accepts or rejects.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AD960-31BB-4E1D-A4F4-8763225C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62200"/>
            <a:ext cx="1885950" cy="2724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C5AAA-E49A-4BA5-A61E-BF35D9C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09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9FF"/>
          </a:solidFill>
          <a:ln xmlns:a="http://schemas.openxmlformats.org/drawingml/2006/main" w="9525">
            <a:solidFill>
              <a:srgbClr val="286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426FB-8761-4BDD-B008-3A7150B8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09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303DD-FCFB-4E35-AA67-8BAF01BA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718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Lock USDC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A8B264-E10E-4F55-B771-3C455D84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814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CE7FF"/>
                </a:solidFill>
              </a:defRPr>
            </a:pPr>
            <a:r>
              <a:rPr sz="1200" b="0">
                <a:solidFill>
                  <a:srgbClr val="DCE7FF"/>
                </a:solidFill>
              </a:rPr>
              <a:t>Buyer deposits Arc Testnet USDC.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49F63-65DC-402E-AE63-83F2C09E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1885950" cy="2724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0539A2-9731-4BE7-9A5D-1C6FCC45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609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DABD9A-A327-4DA9-8EE0-1A2624F1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609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0CEC5B-AF74-41DF-9B11-1B7BD3C7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71229"/>
                </a:solidFill>
              </a:defRPr>
            </a:pPr>
            <a:r>
              <a:rPr sz="1575" b="1">
                <a:solidFill>
                  <a:srgbClr val="071229"/>
                </a:solidFill>
              </a:rPr>
              <a:t>Confirm delivery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1D348E-2CE2-4ABA-806D-FC715B22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87792"/>
                </a:solidFill>
              </a:defRPr>
            </a:pPr>
            <a:r>
              <a:rPr sz="1200" b="0">
                <a:solidFill>
                  <a:srgbClr val="687792"/>
                </a:solidFill>
              </a:rPr>
              <a:t>Seller marks the delivery complete.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20424-4174-46FD-A516-577066B9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62200"/>
            <a:ext cx="1885950" cy="2724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AE2404-6984-4A77-821E-34841D65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609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1B2896-2AC8-4E1C-AA3B-29F7F6A2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609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155DB3-6C43-48B7-B346-12EAD2B4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718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71229"/>
                </a:solidFill>
              </a:defRPr>
            </a:pPr>
            <a:r>
              <a:rPr sz="1575" b="1">
                <a:solidFill>
                  <a:srgbClr val="071229"/>
                </a:solidFill>
              </a:rPr>
              <a:t>Release funds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238E39-85DF-4ECE-A4FC-07752B23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9814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87792"/>
                </a:solidFill>
              </a:defRPr>
            </a:pPr>
            <a:r>
              <a:rPr sz="1200" b="0">
                <a:solidFill>
                  <a:srgbClr val="687792"/>
                </a:solidFill>
              </a:rPr>
              <a:t>Buyer releases USDC to the seller.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F5119-2F51-42CB-BE25-C332C8AB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47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3732D4-46C8-4379-B02E-FF6779B6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387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BUYER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05DB77-8D63-40EC-B7D5-A6C40B75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429250"/>
            <a:ext cx="1047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9525">
            <a:solidFill>
              <a:srgbClr val="EAFBF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04D04F-5D91-4658-970C-475DCC85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387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2A150"/>
                </a:solidFill>
              </a:defRPr>
            </a:pPr>
            <a:r>
              <a:rPr sz="1050" b="1">
                <a:solidFill>
                  <a:srgbClr val="12A150"/>
                </a:solidFill>
              </a:rPr>
              <a:t>SELLER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96D073-DF72-4F1D-9073-0038CF98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29250"/>
            <a:ext cx="1695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C7C06A-6CF3-4703-BD9E-75ABCE0C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43877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SMART CONTRACT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75A039-84B8-4AA0-80A4-06EBCA85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429250"/>
            <a:ext cx="1047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9525">
            <a:solidFill>
              <a:srgbClr val="EAFBF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0605E6-1EBD-4810-9216-A07D2253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387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2A150"/>
                </a:solidFill>
              </a:defRPr>
            </a:pPr>
            <a:r>
              <a:rPr sz="1050" b="1">
                <a:solidFill>
                  <a:srgbClr val="12A150"/>
                </a:solidFill>
              </a:rPr>
              <a:t>SELLER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01BBCA-EECE-425E-8253-1F1A0C03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429250"/>
            <a:ext cx="1047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49CBF5-F43F-494A-B49D-45F28F40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387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BUYER</a:t>
            </a:r>
          </a:p>
        </p:txBody>
      </p:sp>
    </p:spTree>
    <p:extLst>
      <p:ext uri="{BB962C8B-B14F-4D97-AF65-F5344CB8AC3E}">
        <p14:creationId xmlns:p14="http://schemas.microsoft.com/office/powerpoint/2010/main" val="20194260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388F6E-C695-4F68-A184-C32EC2A7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CHECKPOINT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AB453-982E-4884-B7E0-4BBE213A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71229"/>
                </a:solidFill>
              </a:defRPr>
            </a:pPr>
            <a:r>
              <a:rPr sz="3000" b="1">
                <a:solidFill>
                  <a:srgbClr val="071229"/>
                </a:solidFill>
              </a:rPr>
              <a:t>A public, working testnet MVP—not a mockup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1E0CA-B789-447B-8F84-BB9C167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87792"/>
                </a:solidFill>
              </a:defRPr>
            </a:pPr>
            <a:r>
              <a:rPr sz="1500" b="0">
                <a:solidFill>
                  <a:srgbClr val="687792"/>
                </a:solidFill>
              </a:rPr>
              <a:t>The core buyer-to-seller settlement loop is deployed and has been exercised across multiple wallets.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B4781-0D41-43B6-BEC2-50935055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65BB8-D4E7-4C37-A176-C17D4745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5EEF"/>
                </a:solidFill>
              </a:defRPr>
            </a:pPr>
            <a:r>
              <a:rPr sz="3300" b="1">
                <a:solidFill>
                  <a:srgbClr val="155EEF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8533A-5586-412E-8691-06902C90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34425C"/>
                </a:solidFill>
              </a:defRPr>
            </a:pPr>
            <a:r>
              <a:rPr sz="1275" b="1">
                <a:solidFill>
                  <a:srgbClr val="34425C"/>
                </a:solidFill>
              </a:rPr>
              <a:t>completed end-to-end escrows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53228-B31F-4032-92F8-694C1D40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D942B-35FB-4C46-BAD0-8743FE8D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2A150"/>
                </a:solidFill>
              </a:defRPr>
            </a:pPr>
            <a:r>
              <a:rPr sz="3300" b="1">
                <a:solidFill>
                  <a:srgbClr val="12A150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A8215-8254-4A6F-805E-8DA92EEB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242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34425C"/>
                </a:solidFill>
              </a:defRPr>
            </a:pPr>
            <a:r>
              <a:rPr sz="1275" b="1">
                <a:solidFill>
                  <a:srgbClr val="34425C"/>
                </a:solidFill>
              </a:rPr>
              <a:t>wallets used in testing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34AC1-1975-433A-A853-82799808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9C822-2FEF-4E79-A683-5B9A03F5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59E0B"/>
                </a:solidFill>
              </a:defRPr>
            </a:pPr>
            <a:r>
              <a:rPr sz="33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CD344-6508-4855-B4CC-F778646C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34425C"/>
                </a:solidFill>
              </a:defRPr>
            </a:pPr>
            <a:r>
              <a:rPr sz="1275" b="1">
                <a:solidFill>
                  <a:srgbClr val="34425C"/>
                </a:solidFill>
              </a:rPr>
              <a:t>supported browser wallets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3CC2D-52CA-45A2-B603-59F0F92F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05050"/>
            <a:ext cx="2419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75B9D-1CD8-4D27-8EF3-6F7A7852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9B6F6"/>
                </a:solidFill>
              </a:defRPr>
            </a:pPr>
            <a:r>
              <a:rPr sz="1350" b="1">
                <a:solidFill>
                  <a:srgbClr val="29B6F6"/>
                </a:solidFill>
              </a:rPr>
              <a:t>LIVE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700C5-306F-458C-A3F2-6116162C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146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proofpay.online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95E1C-4F13-4F01-A853-05840A38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71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D7F7"/>
                </a:solidFill>
              </a:defRPr>
            </a:pPr>
            <a:r>
              <a:rPr sz="1050" b="0">
                <a:solidFill>
                  <a:srgbClr val="C9D7F7"/>
                </a:solidFill>
              </a:rPr>
              <a:t>Public Arc Testnet deployment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0179D-0266-4FBD-B857-7786C4AB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ED188-D8B5-4439-B62E-677706E5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C4178C-4250-4FE0-B63D-F4A6B76B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Seller acceptance and rejection states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3DE24-285A-43FD-8B27-7CAA40BF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43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8030D-B60E-4B45-9693-ADE60A84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434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FF5F6-0732-46DF-B44D-E0D3AE7F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3624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USDC deposit, delivery confirmation and release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3E2FF-6D4D-4AC1-8D59-48906860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92EBEE-2507-404B-974E-DF317E6C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4017A-DFBB-4124-A88A-C5BEB6CC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Pending, active, completed and cancelled histories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C54C4-5B71-489E-AAAE-404EB0F0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33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401F9D-7966-481A-AEDB-52637CBB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339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703738-2B7C-4ADF-8B25-D3E403F1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530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Persistent records in Neon Postgres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756F9-A5CE-4C1C-ABC1-B566ABD1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EAD3E0-B5DC-428E-AD58-D68BBFD6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49AC36-EE8F-466F-BF28-C59515B0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435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Arcscan transaction links for onchain proof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336FA2-31B6-4BD6-A895-C2A3E009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524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0EC42F-3F89-460E-B15D-9519F8F2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524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B496C9-F67E-46B6-AE9A-78AAA17D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5435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MetaMask and Rabby connection flows</a:t>
            </a:r>
          </a:p>
        </p:txBody>
      </p:sp>
    </p:spTree>
    <p:extLst>
      <p:ext uri="{BB962C8B-B14F-4D97-AF65-F5344CB8AC3E}">
        <p14:creationId xmlns:p14="http://schemas.microsoft.com/office/powerpoint/2010/main" val="1407427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922651-ED48-40D8-893E-05436120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E4235-FBE8-4224-A795-939C9193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71229"/>
                </a:solidFill>
              </a:defRPr>
            </a:pPr>
            <a:r>
              <a:rPr sz="3000" b="1">
                <a:solidFill>
                  <a:srgbClr val="071229"/>
                </a:solidFill>
              </a:rPr>
              <a:t>Onchain settlement, off-chain product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BE99A-C1FA-4A48-9795-E211D57F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87792"/>
                </a:solidFill>
              </a:defRPr>
            </a:pPr>
            <a:r>
              <a:rPr sz="1500" b="0">
                <a:solidFill>
                  <a:srgbClr val="687792"/>
                </a:solidFill>
              </a:rPr>
              <a:t>A focused Web3 stack keeps escrow enforcement transparent while preserving usable order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AC3D8-5E34-4416-994E-910C2230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24150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E6FC7-8FC8-40B8-A417-AB2EC02E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695FB-55B5-42F9-9232-ACDC069F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43400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DCAB4-D19E-4123-B23C-3E5C6B63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CA9A2-3279-4EFE-A007-7FE36A60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532CA-2651-4772-A2BA-68FF8090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229"/>
                </a:solidFill>
              </a:defRPr>
            </a:pPr>
            <a:r>
              <a:rPr sz="1650" b="1">
                <a:solidFill>
                  <a:srgbClr val="071229"/>
                </a:solidFill>
              </a:rPr>
              <a:t>Buyer + Seller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68E0C-AD49-42B2-AC5E-282EE404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87792"/>
                </a:solidFill>
              </a:defRPr>
            </a:pPr>
            <a:r>
              <a:rPr sz="1125" b="0">
                <a:solidFill>
                  <a:srgbClr val="687792"/>
                </a:solidFill>
              </a:rPr>
              <a:t>MetaMask / Rabby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AA2E5-C051-4241-9EB7-C5623254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8600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B1EB5-9ECA-417C-8795-64EEA9F3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57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React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7B9AF-5F9A-4183-A77E-7DB4AB84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CE7FF"/>
                </a:solidFill>
              </a:defRPr>
            </a:pPr>
            <a:r>
              <a:rPr sz="1125" b="0">
                <a:solidFill>
                  <a:srgbClr val="DCE7FF"/>
                </a:solidFill>
              </a:rPr>
              <a:t>Vite · Tailwind · ethers.js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82A84-1DDA-4CAB-A2FD-11C3492C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DBE1A-9B4D-4A0C-BC23-401BD809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Arc Testnet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FEAD4-8030-4255-A551-2F745594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CE7FF"/>
                </a:solidFill>
              </a:defRPr>
            </a:pPr>
            <a:r>
              <a:rPr sz="1125" b="0">
                <a:solidFill>
                  <a:srgbClr val="DCE7FF"/>
                </a:solidFill>
              </a:rPr>
              <a:t>ProofPayEscrow + USDC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C03CC-E442-49F6-8F57-E89D2B80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FA508-7A7E-4FD5-8D17-561F7B49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229"/>
                </a:solidFill>
              </a:defRPr>
            </a:pPr>
            <a:r>
              <a:rPr sz="1650" b="1">
                <a:solidFill>
                  <a:srgbClr val="071229"/>
                </a:solidFill>
              </a:rPr>
              <a:t>Order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627B7-7CB4-42BE-9F0F-F79291C9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87792"/>
                </a:solidFill>
              </a:defRPr>
            </a:pPr>
            <a:r>
              <a:rPr sz="1125" b="0">
                <a:solidFill>
                  <a:srgbClr val="687792"/>
                </a:solidFill>
              </a:rPr>
              <a:t>Create · accept · deliver · release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28A48-B64E-4BC4-95BA-70721F38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0525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DE379-B4D5-40A6-B09D-EFBD81C7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76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Express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E3860-B129-4E55-924D-23EB43E3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CE7FF"/>
                </a:solidFill>
              </a:defRPr>
            </a:pPr>
            <a:r>
              <a:rPr sz="1125" b="0">
                <a:solidFill>
                  <a:srgbClr val="DCE7FF"/>
                </a:solidFill>
              </a:rPr>
              <a:t>Validation and status orchestration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C96CB-EEDD-43E4-BE34-238CC7E0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481E31-3BAD-42C1-80A8-91383D20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76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229"/>
                </a:solidFill>
              </a:defRPr>
            </a:pPr>
            <a:r>
              <a:rPr sz="1650" b="1">
                <a:solidFill>
                  <a:srgbClr val="071229"/>
                </a:solidFill>
              </a:rPr>
              <a:t>Neon Postgres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BD9A4-6EB1-4577-A4EA-99AFD03C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76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87792"/>
                </a:solidFill>
              </a:defRPr>
            </a:pPr>
            <a:r>
              <a:rPr sz="1125" b="0">
                <a:solidFill>
                  <a:srgbClr val="687792"/>
                </a:solidFill>
              </a:rPr>
              <a:t>Persistent order metadata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3B033-C795-46A7-B7DF-3880A6FF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381625"/>
            <a:ext cx="19431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893DAC-E98A-4949-A9DC-12BDD548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3911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VERCEL SERVICES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F930F-E4AE-4043-9614-1F169BC8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864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87792"/>
                </a:solidFill>
              </a:defRPr>
            </a:pPr>
            <a:r>
              <a:rPr sz="1050" b="1">
                <a:solidFill>
                  <a:srgbClr val="687792"/>
                </a:solidFill>
              </a:rPr>
              <a:t>Contract: 0xCd0f…98C9a</a:t>
            </a:r>
          </a:p>
        </p:txBody>
      </p:sp>
    </p:spTree>
    <p:extLst>
      <p:ext uri="{BB962C8B-B14F-4D97-AF65-F5344CB8AC3E}">
        <p14:creationId xmlns:p14="http://schemas.microsoft.com/office/powerpoint/2010/main" val="1898100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2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A4EC46-244E-4C83-9B49-8752E8EA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9B6F6"/>
                </a:solidFill>
              </a:defRPr>
            </a:pPr>
            <a:r>
              <a:rPr sz="1050" b="1">
                <a:solidFill>
                  <a:srgbClr val="29B6F6"/>
                </a:solidFill>
              </a:rPr>
              <a:t>NEXT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81EDC-AE7A-45C7-B013-7FE2F2AC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From wallet-first testing to easier mainstream onboarding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4BAA0-73FE-4679-A1F2-286BFACF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C9D7F7"/>
                </a:solidFill>
              </a:defRPr>
            </a:pPr>
            <a:r>
              <a:rPr sz="1575" b="0">
                <a:solidFill>
                  <a:srgbClr val="C9D7F7"/>
                </a:solidFill>
              </a:rPr>
              <a:t>The next major integration is Circle User-Controlled Wallets.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D4C64-7F38-4E6F-B510-96C94B2C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086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44B"/>
          </a:solidFill>
          <a:ln xmlns:a="http://schemas.openxmlformats.org/drawingml/2006/main" w="9525">
            <a:solidFill>
              <a:srgbClr val="2541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4E0FA-E04D-4B16-876F-0C3BFE98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9B6F6"/>
                </a:solidFill>
              </a:defRPr>
            </a:pPr>
            <a:r>
              <a:rPr sz="1350" b="1">
                <a:solidFill>
                  <a:srgbClr val="29B6F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F78F3-9C68-4CA2-BABA-6B167906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241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Circle wallets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679E2-D6D9-441A-A067-DA964801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62300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D7F7"/>
                </a:solidFill>
              </a:defRPr>
            </a:pPr>
            <a:r>
              <a:rPr sz="1200" b="0">
                <a:solidFill>
                  <a:srgbClr val="C9D7F7"/>
                </a:solidFill>
              </a:rPr>
              <a:t>Integrate Circle User-Controlled Wallets for familiar, app-guided onboarding.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D0BD5-4420-4F15-9D66-8886D7DC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5086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44B"/>
          </a:solidFill>
          <a:ln xmlns:a="http://schemas.openxmlformats.org/drawingml/2006/main" w="9525">
            <a:solidFill>
              <a:srgbClr val="2541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9A7FB-6C0B-4133-89FB-9FD188F0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2A150"/>
                </a:solidFill>
              </a:defRPr>
            </a:pPr>
            <a:r>
              <a:rPr sz="1350" b="1">
                <a:solidFill>
                  <a:srgbClr val="12A15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D718F-19FF-46E0-B80E-33BD9389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241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Public testing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EF603-18D3-4CF1-BB78-982D4755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62300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D7F7"/>
                </a:solidFill>
              </a:defRPr>
            </a:pPr>
            <a:r>
              <a:rPr sz="1200" b="0">
                <a:solidFill>
                  <a:srgbClr val="C9D7F7"/>
                </a:solidFill>
              </a:rPr>
              <a:t>Collect feedback from Arc community testers across wallets, browsers and devices.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B4D25-2880-4934-90E5-321A3DCE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086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44B"/>
          </a:solidFill>
          <a:ln xmlns:a="http://schemas.openxmlformats.org/drawingml/2006/main" w="9525">
            <a:solidFill>
              <a:srgbClr val="2541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7FB86-60F7-4458-A48B-9D200EF6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A79A6-56EA-44E2-955D-17E339D6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434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Flow hardening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B54AB-3234-4047-B3F8-9F47F881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81550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D7F7"/>
                </a:solidFill>
              </a:defRPr>
            </a:pPr>
            <a:r>
              <a:rPr sz="1200" b="0">
                <a:solidFill>
                  <a:srgbClr val="C9D7F7"/>
                </a:solidFill>
              </a:rPr>
              <a:t>Expand automated coverage for rejection, expiry, refund, dispute and retry paths.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49D7E-99EB-4B4D-AB5B-8B66BA94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5086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44B"/>
          </a:solidFill>
          <a:ln xmlns:a="http://schemas.openxmlformats.org/drawingml/2006/main" w="9525">
            <a:solidFill>
              <a:srgbClr val="2541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F0DAC-4F0F-4EC1-A699-D2B19117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9FF"/>
                </a:solidFill>
              </a:defRPr>
            </a:pPr>
            <a:r>
              <a:rPr sz="1350" b="1">
                <a:solidFill>
                  <a:srgbClr val="2869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099E4-BBAE-414C-A063-18905A5C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434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Final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0B538-FA1A-4E24-AD4D-BDA0DA99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81550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D7F7"/>
                </a:solidFill>
              </a:defRPr>
            </a:pPr>
            <a:r>
              <a:rPr sz="1200" b="0">
                <a:solidFill>
                  <a:srgbClr val="C9D7F7"/>
                </a:solidFill>
              </a:rPr>
              <a:t>Polish mobile UX, document the architecture and publish a concise end-to-end demo.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125FD-7316-4792-A6CB-775E1DD6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1620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A69A7E-053D-4FAF-8DA7-5F28A6E5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2932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LIVE MVP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1FE51-8F2F-4789-9834-36566B21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0102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proofpay.online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37464E-2C96-472C-A61B-EF8AAD5B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01027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github.com/24hlivepay/ProofPay</a:t>
            </a:r>
          </a:p>
        </p:txBody>
      </p:sp>
    </p:spTree>
    <p:extLst>
      <p:ext uri="{BB962C8B-B14F-4D97-AF65-F5344CB8AC3E}">
        <p14:creationId xmlns:p14="http://schemas.microsoft.com/office/powerpoint/2010/main" val="1968874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2026-07-26T10:01:28.2710000Z</dcterms:created>
  <dcterms:modified xsi:type="dcterms:W3CDTF">2026-07-26T10:01:28.2710000Z</dcterms:modified>
</coreProperties>
</file>